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5" r:id="rId4"/>
    <p:sldId id="262" r:id="rId5"/>
    <p:sldId id="263" r:id="rId6"/>
    <p:sldId id="258" r:id="rId7"/>
    <p:sldId id="261" r:id="rId8"/>
    <p:sldId id="259" r:id="rId9"/>
    <p:sldId id="260" r:id="rId10"/>
    <p:sldId id="264" r:id="rId11"/>
    <p:sldId id="266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7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Rocky Little" initials="RL" lastIdx="2" clrIdx="1">
    <p:extLst>
      <p:ext uri="{19B8F6BF-5375-455C-9EA6-DF929625EA0E}">
        <p15:presenceInfo xmlns:p15="http://schemas.microsoft.com/office/powerpoint/2012/main" userId="Rocky Litt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E19"/>
    <a:srgbClr val="C28220"/>
    <a:srgbClr val="003262"/>
    <a:srgbClr val="ED4E33"/>
    <a:srgbClr val="2D637F"/>
    <a:srgbClr val="D5C711"/>
    <a:srgbClr val="EDDE1F"/>
    <a:srgbClr val="F7F09B"/>
    <a:srgbClr val="00B2A5"/>
    <a:srgbClr val="9DA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E2294-9B90-462F-B133-08309F2E9447}" v="155" dt="2023-10-10T19:04:56.439"/>
  </p1510:revLst>
</p1510:revInfo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68" autoAdjust="0"/>
    <p:restoredTop sz="84762" autoAdjust="0"/>
  </p:normalViewPr>
  <p:slideViewPr>
    <p:cSldViewPr snapToGrid="0" snapToObjects="1">
      <p:cViewPr varScale="1">
        <p:scale>
          <a:sx n="118" d="100"/>
          <a:sy n="118" d="100"/>
        </p:scale>
        <p:origin x="1434" y="114"/>
      </p:cViewPr>
      <p:guideLst>
        <p:guide orient="horz" pos="3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>
                <a:latin typeface="Lucida Grande Regular" panose="020B0600040502020204" pitchFamily="34" charset="0"/>
              </a:rPr>
              <a:t>10/14/2025</a:t>
            </a:fld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>
                <a:latin typeface="Lucida Grande Regular" panose="020B0600040502020204" pitchFamily="34" charset="0"/>
              </a:rPr>
              <a:t>‹#›</a:t>
            </a:fld>
            <a:endParaRPr lang="en-US" dirty="0">
              <a:latin typeface="Lucida Grande Regular" panose="020B0600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5F53F6BF-7462-9046-A2B6-90C29244BD2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84B7DBC5-2A13-CA47-B9EE-6017A92B6B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740098"/>
            <a:ext cx="9085179" cy="163946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56B46D7-55A2-4F84-B50A-6A0615281D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9912" y="4445780"/>
            <a:ext cx="1624339" cy="1498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9579749-A13C-49D8-A808-2706172742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857749"/>
            <a:ext cx="2195512" cy="6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1740098"/>
            <a:ext cx="4271852" cy="163946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56B46D7-55A2-4F84-B50A-6A0615281D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9912" y="4445780"/>
            <a:ext cx="1624339" cy="1498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9579749-A13C-49D8-A808-2706172742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857749"/>
            <a:ext cx="2195512" cy="6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2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7360"/>
            <a:ext cx="9085179" cy="163946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472928"/>
            <a:ext cx="8534400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84CD5-3C59-418A-AFCF-C1F5C6D60DA6}"/>
              </a:ext>
            </a:extLst>
          </p:cNvPr>
          <p:cNvSpPr txBox="1"/>
          <p:nvPr userDrawn="1"/>
        </p:nvSpPr>
        <p:spPr>
          <a:xfrm>
            <a:off x="3048595" y="3244334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2F154-75A9-4F96-B155-9E73C0C80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4400" y="4883802"/>
            <a:ext cx="3822523" cy="14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3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737360"/>
            <a:ext cx="4278834" cy="163946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472928"/>
            <a:ext cx="4019434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2F154-75A9-4F96-B155-9E73C0C80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4400" y="4883802"/>
            <a:ext cx="3822523" cy="14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6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343"/>
            <a:ext cx="10354733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10320867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1pPr>
            <a:lvl2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2pPr>
            <a:lvl3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3pPr>
            <a:lvl4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4pPr>
            <a:lvl5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3338-3A96-4EA6-93D5-24A3FF05D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87" y="6397934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2C6D0-7C6D-469D-AAF7-F0262D9B2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4287" y="6397933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CC68AD-B14A-4D0E-8774-AAA549104D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078146"/>
            <a:ext cx="813887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0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685343"/>
            <a:ext cx="4584668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4569673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1pPr>
            <a:lvl2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2pPr>
            <a:lvl3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3pPr>
            <a:lvl4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4pPr>
            <a:lvl5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07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7767" y="2017300"/>
            <a:ext cx="10363200" cy="199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753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729789"/>
            <a:ext cx="467127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358775"/>
            <a:ext cx="4671273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4296527"/>
            <a:ext cx="4671273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923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E2881C-E8AA-4CC5-8C0C-92CC7E3F4E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6B554E-FA59-4B7D-9762-6986F98F2E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078146"/>
            <a:ext cx="813887" cy="7498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685800"/>
            <a:ext cx="9952567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4957233" cy="35610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5566836" y="2097759"/>
            <a:ext cx="4995333" cy="356103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13FA-DD2E-43FB-8825-0C2D97A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649B-1E28-400B-9D5B-7BD973DD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3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BF1E46-3430-4D94-9322-D7B1EEAAF1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078146"/>
            <a:ext cx="813887" cy="7498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729789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358775"/>
            <a:ext cx="7315200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4296527"/>
            <a:ext cx="7315200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9DAB-EE73-4D43-AB2E-4D1BC532F2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048C-C931-4C63-89B1-57539AE9E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45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5E5C86-5D67-4951-BE37-85F474071C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5F9456-6CB3-4FD7-9517-C383A1DD8C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078146"/>
            <a:ext cx="813887" cy="74987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041995"/>
            <a:ext cx="4011084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6737" y="1042000"/>
            <a:ext cx="6049433" cy="365700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9945E8-F6F0-4160-A21E-AE7F4910C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3B9248-F3AD-44B6-8D6B-7E8043C1B0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35B1260-EA88-464B-8C1B-6DCAE8F9F6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3" y="1566863"/>
            <a:ext cx="4011610" cy="3132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9600" y="525956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8079"/>
            <a:ext cx="109728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73" r:id="rId3"/>
    <p:sldLayoutId id="2147483688" r:id="rId4"/>
    <p:sldLayoutId id="2147483674" r:id="rId5"/>
    <p:sldLayoutId id="2147483689" r:id="rId6"/>
    <p:sldLayoutId id="2147483675" r:id="rId7"/>
    <p:sldLayoutId id="2147483690" r:id="rId8"/>
    <p:sldLayoutId id="2147483676" r:id="rId9"/>
    <p:sldLayoutId id="2147483681" r:id="rId10"/>
    <p:sldLayoutId id="2147483649" r:id="rId1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5000" b="0" i="0" kern="1200">
          <a:solidFill>
            <a:srgbClr val="C28220"/>
          </a:solidFill>
          <a:latin typeface="FreightSans Pro Bold" panose="02000803040000020004" pitchFamily="50" charset="0"/>
          <a:ea typeface="+mj-ea"/>
          <a:cs typeface="FreightSans Pro Bold" panose="02000803040000020004" pitchFamily="50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b="0" i="0" kern="1200">
          <a:solidFill>
            <a:schemeClr val="tx1"/>
          </a:solidFill>
          <a:latin typeface="FreightSans Pro Medium" panose="02000606030000020004" pitchFamily="50" charset="0"/>
          <a:ea typeface="+mn-ea"/>
          <a:cs typeface="FreightSans Pro Medium" panose="02000606030000020004" pitchFamily="50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FreightSans Pro Medium" panose="02000606030000020004" pitchFamily="50" charset="0"/>
          <a:ea typeface="+mn-ea"/>
          <a:cs typeface="FreightSans Pro Medium" panose="02000606030000020004" pitchFamily="50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FreightSans Pro Medium" panose="02000606030000020004" pitchFamily="50" charset="0"/>
          <a:ea typeface="+mn-ea"/>
          <a:cs typeface="FreightSans Pro Medium" panose="02000606030000020004" pitchFamily="50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FreightSans Pro Medium" panose="02000606030000020004" pitchFamily="50" charset="0"/>
          <a:ea typeface="+mn-ea"/>
          <a:cs typeface="FreightSans Pro Medium" panose="02000606030000020004" pitchFamily="50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FreightSans Pro Medium" panose="02000606030000020004" pitchFamily="50" charset="0"/>
          <a:ea typeface="+mn-ea"/>
          <a:cs typeface="FreightSans Pro Medium" panose="02000606030000020004" pitchFamily="50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797D-D3E5-44AE-99CB-3EB8064F6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Electronic Structure Theory</a:t>
            </a:r>
          </a:p>
        </p:txBody>
      </p:sp>
    </p:spTree>
    <p:extLst>
      <p:ext uri="{BB962C8B-B14F-4D97-AF65-F5344CB8AC3E}">
        <p14:creationId xmlns:p14="http://schemas.microsoft.com/office/powerpoint/2010/main" val="396343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7460A4-2E77-AAD1-CC3A-C9256308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Electronic Structure Theory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D8FA30-6DE7-C829-BB62-00811A1B4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5663975" cy="3561032"/>
          </a:xfrm>
        </p:spPr>
        <p:txBody>
          <a:bodyPr/>
          <a:lstStyle/>
          <a:p>
            <a:r>
              <a:rPr lang="en-US" dirty="0"/>
              <a:t>Determination of location and structure of electrons within a molecule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8D9D21-D020-C77D-6BB0-1C2EC5F44DD2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7167583" y="1798875"/>
            <a:ext cx="3190424" cy="3562350"/>
          </a:xfr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DB9CF8-AB92-779E-82FE-720CDC3609D1}"/>
              </a:ext>
            </a:extLst>
          </p:cNvPr>
          <p:cNvGrpSpPr/>
          <p:nvPr/>
        </p:nvGrpSpPr>
        <p:grpSpPr>
          <a:xfrm>
            <a:off x="927855" y="3429000"/>
            <a:ext cx="4528264" cy="1888695"/>
            <a:chOff x="426724" y="3356111"/>
            <a:chExt cx="4528264" cy="188869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036426D-8C9C-7DC0-C55C-E35A7E183274}"/>
                </a:ext>
              </a:extLst>
            </p:cNvPr>
            <p:cNvGrpSpPr/>
            <p:nvPr/>
          </p:nvGrpSpPr>
          <p:grpSpPr>
            <a:xfrm>
              <a:off x="426724" y="4129045"/>
              <a:ext cx="4528264" cy="0"/>
              <a:chOff x="426724" y="4128051"/>
              <a:chExt cx="4528264" cy="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DE31509-29FC-9094-C69B-84C7C6514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4" y="4128051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864B171-BE65-5044-76E0-99DE3056EE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5994" y="4128051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AF208A-F2B2-1502-1F90-D0D8B3468257}"/>
                </a:ext>
              </a:extLst>
            </p:cNvPr>
            <p:cNvGrpSpPr/>
            <p:nvPr/>
          </p:nvGrpSpPr>
          <p:grpSpPr>
            <a:xfrm>
              <a:off x="2391359" y="3382617"/>
              <a:ext cx="598994" cy="1492857"/>
              <a:chOff x="2399973" y="3382617"/>
              <a:chExt cx="598994" cy="149285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B6BCEC-E4B9-4CDF-084D-D49533BEF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9973" y="4875474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819ED7C-2182-BB15-401A-C2729654D4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9973" y="3382617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1E8A09-5865-480E-9AE1-3D3AF3692E5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718" y="4127056"/>
              <a:ext cx="1374255" cy="74841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C455DF1-8424-5FF5-99E7-6B0447D52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718" y="3382617"/>
              <a:ext cx="1374255" cy="74543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17E77E-67C5-37F1-3B3E-A7CF9F56EB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915" y="3401557"/>
              <a:ext cx="1349079" cy="72549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21CA9B8-738F-92E8-E0DB-0A534C019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1739" y="4127056"/>
              <a:ext cx="1374255" cy="74841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7CE825-08C3-F4B2-9D8E-5DF68016F14C}"/>
                </a:ext>
              </a:extLst>
            </p:cNvPr>
            <p:cNvSpPr txBox="1"/>
            <p:nvPr/>
          </p:nvSpPr>
          <p:spPr>
            <a:xfrm>
              <a:off x="553077" y="4094658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98B1C9-9AD2-01D0-8F5A-B0BCFDBC1B8C}"/>
                </a:ext>
              </a:extLst>
            </p:cNvPr>
            <p:cNvSpPr txBox="1"/>
            <p:nvPr/>
          </p:nvSpPr>
          <p:spPr>
            <a:xfrm>
              <a:off x="4504935" y="4094790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8E61D63-F548-5933-EC4B-70E9D9D01CB4}"/>
                </a:ext>
              </a:extLst>
            </p:cNvPr>
            <p:cNvSpPr txBox="1"/>
            <p:nvPr/>
          </p:nvSpPr>
          <p:spPr>
            <a:xfrm>
              <a:off x="2518324" y="487547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800" dirty="0"/>
                <a:t>σ</a:t>
              </a:r>
              <a:endParaRPr lang="el-GR" sz="1800" dirty="0">
                <a:latin typeface="MS Shell Dlg 2" panose="020B060403050404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AB13F8-20BD-09A8-A788-7EB5CDCF98D0}"/>
                </a:ext>
              </a:extLst>
            </p:cNvPr>
            <p:cNvSpPr txBox="1"/>
            <p:nvPr/>
          </p:nvSpPr>
          <p:spPr>
            <a:xfrm>
              <a:off x="2519744" y="335611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800" dirty="0"/>
                <a:t>σ</a:t>
              </a:r>
              <a:r>
                <a:rPr lang="en-US" sz="1800" dirty="0"/>
                <a:t>*</a:t>
              </a:r>
              <a:endParaRPr lang="el-GR" sz="1800" dirty="0">
                <a:latin typeface="MS Shell Dlg 2" panose="020B0604030504040204" pitchFamily="34" charset="0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2A2749A-E2FF-AC9E-2451-0CC500204665}"/>
                </a:ext>
              </a:extLst>
            </p:cNvPr>
            <p:cNvCxnSpPr/>
            <p:nvPr/>
          </p:nvCxnSpPr>
          <p:spPr>
            <a:xfrm flipV="1">
              <a:off x="609604" y="3742813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0FEA8B0-6340-8B1A-F195-38C3B2CAB3B0}"/>
                </a:ext>
              </a:extLst>
            </p:cNvPr>
            <p:cNvCxnSpPr/>
            <p:nvPr/>
          </p:nvCxnSpPr>
          <p:spPr>
            <a:xfrm flipV="1">
              <a:off x="2567065" y="4464123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6E797D-D60C-93EB-8480-3CB6BFBA7B2A}"/>
                </a:ext>
              </a:extLst>
            </p:cNvPr>
            <p:cNvCxnSpPr/>
            <p:nvPr/>
          </p:nvCxnSpPr>
          <p:spPr>
            <a:xfrm flipV="1">
              <a:off x="4504935" y="3725443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11ABFCA-ABB0-4385-FBA6-90012040665B}"/>
                </a:ext>
              </a:extLst>
            </p:cNvPr>
            <p:cNvCxnSpPr>
              <a:cxnSpLocks/>
            </p:cNvCxnSpPr>
            <p:nvPr/>
          </p:nvCxnSpPr>
          <p:spPr>
            <a:xfrm>
              <a:off x="2737117" y="4464122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462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8CEF-7687-8BEB-7CC1-E7361834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vs. Classical Calculations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8B662D-2B96-5B97-50B1-D2A2881041FD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6434604" y="1778372"/>
            <a:ext cx="4355725" cy="4251422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810E1-16D3-135A-E106-925E0CBE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A871C-C9E7-65A3-F384-2FB18C16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3431AAD-778E-60BD-361E-44A0072C5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5663975" cy="3561032"/>
          </a:xfrm>
        </p:spPr>
        <p:txBody>
          <a:bodyPr/>
          <a:lstStyle/>
          <a:p>
            <a:r>
              <a:rPr lang="en-US" dirty="0"/>
              <a:t>The model you choose depends on what you want to calculate</a:t>
            </a:r>
          </a:p>
          <a:p>
            <a:endParaRPr lang="en-US" dirty="0"/>
          </a:p>
          <a:p>
            <a:r>
              <a:rPr lang="en-US" dirty="0"/>
              <a:t>“All models are wrong, some are useful”</a:t>
            </a:r>
          </a:p>
        </p:txBody>
      </p:sp>
    </p:spTree>
    <p:extLst>
      <p:ext uri="{BB962C8B-B14F-4D97-AF65-F5344CB8AC3E}">
        <p14:creationId xmlns:p14="http://schemas.microsoft.com/office/powerpoint/2010/main" val="4134643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2AAF-CB82-8B85-580A-C73058C8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Singlepoint</a:t>
            </a:r>
            <a:r>
              <a:rPr lang="en-US" dirty="0"/>
              <a:t> Calculations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F32C4-D21D-4B55-1E59-032116B5069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541487" y="2018247"/>
            <a:ext cx="4995333" cy="3561033"/>
          </a:xfrm>
        </p:spPr>
        <p:txBody>
          <a:bodyPr/>
          <a:lstStyle/>
          <a:p>
            <a:r>
              <a:rPr lang="en-US" dirty="0"/>
              <a:t>Calculation on a single fixed geometry</a:t>
            </a:r>
          </a:p>
          <a:p>
            <a:r>
              <a:rPr lang="en-US" dirty="0"/>
              <a:t>Electronic properties:</a:t>
            </a:r>
          </a:p>
          <a:p>
            <a:pPr lvl="1"/>
            <a:r>
              <a:rPr lang="en-US" dirty="0"/>
              <a:t>UV/Vis, IR, CD spectra</a:t>
            </a:r>
          </a:p>
          <a:p>
            <a:pPr lvl="1"/>
            <a:r>
              <a:rPr lang="en-US" dirty="0"/>
              <a:t>NMR/Magnetic susceptibility</a:t>
            </a:r>
          </a:p>
          <a:p>
            <a:pPr lvl="1"/>
            <a:r>
              <a:rPr lang="en-US" dirty="0"/>
              <a:t>Bonding information</a:t>
            </a:r>
          </a:p>
          <a:p>
            <a:pPr lvl="1"/>
            <a:r>
              <a:rPr lang="en-US" dirty="0"/>
              <a:t>Reaction energies/Transition states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5BAFF-1A1F-098D-B0FF-0356E74B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ADA3-6DC1-3485-F636-A4C934D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61FFF-F34B-B695-0334-D45CDFC8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25" y="3774688"/>
            <a:ext cx="2872498" cy="1992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4E9579-A701-F104-A610-7AB967FF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51" y="1890583"/>
            <a:ext cx="2972936" cy="1992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98A1C-343C-2D3E-3D72-00EBE4F98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65" y="1925498"/>
            <a:ext cx="2505837" cy="15035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4A445C-6A0B-426E-A5A1-A3D1FA61A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823" y="3822839"/>
            <a:ext cx="3552618" cy="199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0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913B-72E3-2DA0-CF06-944B6311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Optimization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A17A70-6069-CFC9-78CC-150D215D72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0976" y="2368550"/>
            <a:ext cx="1638300" cy="16383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CFDA-1E27-D11A-5F1D-1105542B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2D91-E108-F880-12F7-FBA8E907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E16F39-FDDD-F47F-2C9A-72D926504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871" y="2472523"/>
            <a:ext cx="1400175" cy="13811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7A1DE0-EC5A-D0AD-ED73-CBA9FC8567A2}"/>
              </a:ext>
            </a:extLst>
          </p:cNvPr>
          <p:cNvCxnSpPr>
            <a:cxnSpLocks/>
          </p:cNvCxnSpPr>
          <p:nvPr/>
        </p:nvCxnSpPr>
        <p:spPr>
          <a:xfrm>
            <a:off x="3776871" y="3187700"/>
            <a:ext cx="310100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0D7061-911B-D0B3-7E1F-087CF693433C}"/>
              </a:ext>
            </a:extLst>
          </p:cNvPr>
          <p:cNvSpPr txBox="1"/>
          <p:nvPr/>
        </p:nvSpPr>
        <p:spPr>
          <a:xfrm>
            <a:off x="140477" y="4004815"/>
            <a:ext cx="4044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  0.0000   0.0000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0.0000   1.5875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0.7938  -1.8521   0.0000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1F06AE-2775-F33C-2791-0537909E5C77}"/>
              </a:ext>
            </a:extLst>
          </p:cNvPr>
          <p:cNvSpPr txBox="1"/>
          <p:nvPr/>
        </p:nvSpPr>
        <p:spPr>
          <a:xfrm>
            <a:off x="7017493" y="4004815"/>
            <a:ext cx="4044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  -0.1282  -0.1662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 0.3142   0.6933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 0.7087  -0.7918   0.0000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0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2DAB-5D2E-2B38-9406-BABB3D36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QM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37EE-9DEE-19F0-B399-588744609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Molecular Orbitals (MOs) are expanded in the basis of Atomic Orbitals (AOs). These AOs are defined by your </a:t>
            </a:r>
            <a:r>
              <a:rPr lang="en-US" i="1" dirty="0"/>
              <a:t>basis set</a:t>
            </a:r>
          </a:p>
          <a:p>
            <a:r>
              <a:rPr lang="en-US" dirty="0"/>
              <a:t>Your </a:t>
            </a:r>
            <a:r>
              <a:rPr lang="en-US" i="1" dirty="0"/>
              <a:t>method</a:t>
            </a:r>
            <a:r>
              <a:rPr lang="en-US" dirty="0"/>
              <a:t> defines how you are calculating those MOs (what approximations)</a:t>
            </a:r>
            <a:endParaRPr lang="en-US" i="1" dirty="0"/>
          </a:p>
          <a:p>
            <a:r>
              <a:rPr lang="en-US" dirty="0"/>
              <a:t>Combined, these are referred to as your </a:t>
            </a:r>
            <a:r>
              <a:rPr lang="en-US" i="1" dirty="0"/>
              <a:t>model</a:t>
            </a:r>
            <a:r>
              <a:rPr lang="en-US" dirty="0"/>
              <a:t>,</a:t>
            </a:r>
            <a:r>
              <a:rPr lang="en-US" i="1" dirty="0"/>
              <a:t> model chemistry</a:t>
            </a:r>
            <a:r>
              <a:rPr lang="en-US" dirty="0"/>
              <a:t>, or</a:t>
            </a:r>
            <a:r>
              <a:rPr lang="en-US" i="1" dirty="0"/>
              <a:t> level of theory</a:t>
            </a:r>
            <a:endParaRPr lang="en-US" dirty="0"/>
          </a:p>
          <a:p>
            <a:r>
              <a:rPr lang="en-US" dirty="0"/>
              <a:t>Often written together with a slash, with the method first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FC231-F6EF-9BBF-1C39-12E7BE036B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0B065-A197-A298-2289-117A7188E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F290-BDF6-E7A1-F4D9-F292568DE6E6}"/>
              </a:ext>
            </a:extLst>
          </p:cNvPr>
          <p:cNvSpPr txBox="1"/>
          <p:nvPr/>
        </p:nvSpPr>
        <p:spPr>
          <a:xfrm>
            <a:off x="609600" y="484047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hf/sto-3g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A6FEA-D30A-C358-D503-45E1EC496D53}"/>
              </a:ext>
            </a:extLst>
          </p:cNvPr>
          <p:cNvSpPr txBox="1"/>
          <p:nvPr/>
        </p:nvSpPr>
        <p:spPr>
          <a:xfrm>
            <a:off x="2755572" y="484047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b3lyp/6-31g*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0EAA9-A3E7-596B-6937-4C37EA470E64}"/>
              </a:ext>
            </a:extLst>
          </p:cNvPr>
          <p:cNvSpPr txBox="1"/>
          <p:nvPr/>
        </p:nvSpPr>
        <p:spPr>
          <a:xfrm>
            <a:off x="8012525" y="4840472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ccsd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(t)/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-cc-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pvdz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1B757-25F5-7A1F-E716-D57BC99C9D26}"/>
              </a:ext>
            </a:extLst>
          </p:cNvPr>
          <p:cNvSpPr txBox="1"/>
          <p:nvPr/>
        </p:nvSpPr>
        <p:spPr>
          <a:xfrm>
            <a:off x="5315119" y="4840472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pbe0/def2-SVP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22761-A80D-C8CF-FCC8-F217AFB85EDE}"/>
              </a:ext>
            </a:extLst>
          </p:cNvPr>
          <p:cNvSpPr txBox="1"/>
          <p:nvPr/>
        </p:nvSpPr>
        <p:spPr>
          <a:xfrm>
            <a:off x="86852" y="4293852"/>
            <a:ext cx="234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Method (Hartree-</a:t>
            </a:r>
            <a:r>
              <a:rPr lang="en-US" dirty="0" err="1"/>
              <a:t>Fock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0AF867-50CA-F823-4223-740D9D85E786}"/>
              </a:ext>
            </a:extLst>
          </p:cNvPr>
          <p:cNvSpPr txBox="1"/>
          <p:nvPr/>
        </p:nvSpPr>
        <p:spPr>
          <a:xfrm>
            <a:off x="1476119" y="5274482"/>
            <a:ext cx="3839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Basis set</a:t>
            </a:r>
            <a:br>
              <a:rPr lang="en-US" dirty="0"/>
            </a:br>
            <a:r>
              <a:rPr lang="en-US" dirty="0"/>
              <a:t>(Slater type orbital fit with 3 gaussians)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EF5DB5-0175-73A1-96D3-024D91AD4A12}"/>
              </a:ext>
            </a:extLst>
          </p:cNvPr>
          <p:cNvCxnSpPr>
            <a:cxnSpLocks/>
          </p:cNvCxnSpPr>
          <p:nvPr/>
        </p:nvCxnSpPr>
        <p:spPr>
          <a:xfrm>
            <a:off x="609600" y="4656366"/>
            <a:ext cx="204287" cy="245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36DC3F-3F22-E19B-DD7A-CF56D401B6AC}"/>
              </a:ext>
            </a:extLst>
          </p:cNvPr>
          <p:cNvCxnSpPr>
            <a:cxnSpLocks/>
          </p:cNvCxnSpPr>
          <p:nvPr/>
        </p:nvCxnSpPr>
        <p:spPr>
          <a:xfrm flipH="1" flipV="1">
            <a:off x="1557867" y="5146937"/>
            <a:ext cx="262466" cy="201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498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AA6D-A115-576F-1CB2-F823D514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QM for 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876E-509B-4481-2CC2-D4183152F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Geometry optimization of this molecule took </a:t>
            </a:r>
            <a:r>
              <a:rPr lang="en-US" b="1" dirty="0"/>
              <a:t>7 hours</a:t>
            </a:r>
            <a:r>
              <a:rPr lang="en-US" dirty="0"/>
              <a:t> on two cores (psi4, </a:t>
            </a:r>
            <a:r>
              <a:rPr lang="el-GR" sz="1800" dirty="0"/>
              <a:t>ω</a:t>
            </a:r>
            <a:r>
              <a:rPr lang="en-US" sz="1800" dirty="0"/>
              <a:t>B97x/6-31G*)</a:t>
            </a:r>
          </a:p>
          <a:p>
            <a:endParaRPr lang="el-GR" sz="1800" dirty="0">
              <a:latin typeface="MS Shell Dlg 2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E9128F-417E-575E-7B03-8978268F119A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6368852" y="2097088"/>
            <a:ext cx="3391297" cy="356235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5A09E-2129-AF96-4661-398919DF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2941-D7B0-2460-93BC-9D8C4349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88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DF8E-9DB0-34D8-7F88-8CC08482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16CD-1575-D8A5-2DAD-AB540071B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zoo of methods, all with their strengths and weaknesses</a:t>
            </a:r>
          </a:p>
          <a:p>
            <a:r>
              <a:rPr lang="en-US" dirty="0"/>
              <a:t>Hartree-</a:t>
            </a:r>
            <a:r>
              <a:rPr lang="en-US" dirty="0" err="1"/>
              <a:t>Fock</a:t>
            </a:r>
            <a:r>
              <a:rPr lang="en-US" dirty="0"/>
              <a:t> (HF) – very basic, but inaccurate relative to others (lacks correlation)</a:t>
            </a:r>
          </a:p>
          <a:p>
            <a:r>
              <a:rPr lang="en-US" dirty="0" err="1"/>
              <a:t>Møller</a:t>
            </a:r>
            <a:r>
              <a:rPr lang="en-US" dirty="0"/>
              <a:t>–</a:t>
            </a:r>
            <a:r>
              <a:rPr lang="en-US" dirty="0" err="1"/>
              <a:t>Plesset</a:t>
            </a:r>
            <a:r>
              <a:rPr lang="en-US" dirty="0"/>
              <a:t> perturbation theory (MP2, </a:t>
            </a:r>
            <a:r>
              <a:rPr lang="en-US" dirty="0" err="1"/>
              <a:t>MPn</a:t>
            </a:r>
            <a:r>
              <a:rPr lang="en-US" dirty="0"/>
              <a:t>) – Adds correlation</a:t>
            </a:r>
          </a:p>
          <a:p>
            <a:r>
              <a:rPr lang="en-US" dirty="0"/>
              <a:t>Coupled Cluster (CCS, CCSD, CCSD(T)) – Very accurate, very expensive</a:t>
            </a:r>
          </a:p>
          <a:p>
            <a:r>
              <a:rPr lang="en-US" dirty="0"/>
              <a:t>Density Functional Theory (DFT) – Very good balance between accuracy and cost</a:t>
            </a:r>
          </a:p>
          <a:p>
            <a:pPr lvl="1"/>
            <a:r>
              <a:rPr lang="en-US" dirty="0"/>
              <a:t>Walter Kohn – 1998 Nobel Prize in Chemistry for the development of DFT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9F9E1-2ADD-C095-0D83-65D321046E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BE3B8-66AF-EC5C-B5B1-D25DAD5CA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20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C13-165D-F9F6-5A44-B702E8D0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9D0BBB-7A6F-1E34-02E9-A6DC2CA1E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Two common types of functions in basis sets</a:t>
                </a:r>
              </a:p>
              <a:p>
                <a:r>
                  <a:rPr lang="en-US" dirty="0"/>
                  <a:t>Slater: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Gaussian: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Most atom centered codes use gaussian</a:t>
                </a:r>
              </a:p>
              <a:p>
                <a:r>
                  <a:rPr lang="en-US" i="1" dirty="0"/>
                  <a:t>In general</a:t>
                </a:r>
                <a:r>
                  <a:rPr lang="en-US" dirty="0"/>
                  <a:t>, larger basis sets are more accurate (but more expensive of course)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9D0BBB-7A6F-1E34-02E9-A6DC2CA1E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53" t="-1199" b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D75E172D-F241-78E2-20DD-8CB27BA3C573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3"/>
          <a:stretch>
            <a:fillRect/>
          </a:stretch>
        </p:blipFill>
        <p:spPr>
          <a:xfrm>
            <a:off x="5567363" y="1355742"/>
            <a:ext cx="6280920" cy="418727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554AA-BED6-D6D0-E5AE-4F93AC82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FB721-41FF-22D7-2089-1CDAC2BE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5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CAC6-2B3F-1DFE-02CC-FD524317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249F-04F3-FDD0-0415-35661B254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9306" y="2097755"/>
            <a:ext cx="5435734" cy="3561032"/>
          </a:xfrm>
        </p:spPr>
        <p:txBody>
          <a:bodyPr/>
          <a:lstStyle/>
          <a:p>
            <a:r>
              <a:rPr lang="en-US" dirty="0"/>
              <a:t>In QM, we generally only care about:</a:t>
            </a:r>
          </a:p>
          <a:p>
            <a:pPr lvl="1"/>
            <a:r>
              <a:rPr lang="en-US" dirty="0"/>
              <a:t>Element (number of protons)</a:t>
            </a:r>
          </a:p>
          <a:p>
            <a:pPr lvl="1"/>
            <a:r>
              <a:rPr lang="en-US" dirty="0"/>
              <a:t>Coordinates</a:t>
            </a:r>
          </a:p>
          <a:p>
            <a:pPr lvl="1"/>
            <a:r>
              <a:rPr lang="en-US" dirty="0"/>
              <a:t>Charge &amp; multiplicity (unpaired electrons)</a:t>
            </a:r>
          </a:p>
          <a:p>
            <a:r>
              <a:rPr lang="en-US" b="1" dirty="0"/>
              <a:t>Bonds do not exist in the QM world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3B593-ECD8-A5DC-CA72-0492FAC902C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71214" y="4084766"/>
            <a:ext cx="11449571" cy="163681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O    1.548014347149      0.000000000000     0.060071441686</a:t>
            </a:r>
          </a:p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H    0.548241218221      0.000000000000     0.038771425885</a:t>
            </a:r>
          </a:p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H    1.819295099755      0.000000000000    -0.902428819751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163E4-30D1-BEE1-8715-CCB742EE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C2564-F7CD-C104-F30D-2CEF6EA2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FC7DB11-AD28-DD1D-0A30-6BBC83E8B8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7803" y="2073023"/>
                <a:ext cx="5435734" cy="14891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2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6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4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Two units of distance</a:t>
                </a:r>
              </a:p>
              <a:p>
                <a:pPr lvl="1"/>
                <a:r>
                  <a:rPr lang="en-US" dirty="0"/>
                  <a:t>Angstrom (Å,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sup>
                    </m:sSup>
                  </m:oMath>
                </a14:m>
                <a:r>
                  <a:rPr lang="en-US" dirty="0"/>
                  <a:t>m)</a:t>
                </a:r>
              </a:p>
              <a:p>
                <a:pPr lvl="1"/>
                <a:r>
                  <a:rPr lang="en-US" dirty="0" err="1"/>
                  <a:t>bohr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5.291 772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</m:oMath>
                </a14:m>
                <a:r>
                  <a:rPr lang="en-US" dirty="0"/>
                  <a:t>m or 0.5291772 Å)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FC7DB11-AD28-DD1D-0A30-6BBC83E8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803" y="2073023"/>
                <a:ext cx="5435734" cy="1489161"/>
              </a:xfrm>
              <a:prstGeom prst="rect">
                <a:avLst/>
              </a:prstGeom>
              <a:blipFill>
                <a:blip r:embed="rId2"/>
                <a:stretch>
                  <a:fillRect l="-1233" t="-2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26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0F00-0382-70F8-4484-261E85BE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Energy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DB10D1E-F38E-2B1C-9999-62C83FD82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398" y="2003265"/>
                <a:ext cx="11398981" cy="3715124"/>
              </a:xfrm>
            </p:spPr>
            <p:txBody>
              <a:bodyPr/>
              <a:lstStyle/>
              <a:p>
                <a:r>
                  <a:rPr lang="en-US" dirty="0"/>
                  <a:t>The main output of a </a:t>
                </a:r>
                <a:r>
                  <a:rPr lang="en-US" dirty="0" err="1"/>
                  <a:t>singlepoint</a:t>
                </a:r>
                <a:r>
                  <a:rPr lang="en-US" dirty="0"/>
                  <a:t> calculation is the total energy of the molecule.</a:t>
                </a:r>
              </a:p>
              <a:p>
                <a:r>
                  <a:rPr lang="en-US" dirty="0"/>
                  <a:t>This is defined as being relative to all nuclei and all electrons being infinitely far apart. Generally, this energy is not meaningful, but </a:t>
                </a:r>
                <a:r>
                  <a:rPr lang="en-US" i="1" dirty="0"/>
                  <a:t>relative</a:t>
                </a:r>
                <a:r>
                  <a:rPr lang="en-US" dirty="0"/>
                  <a:t> energies can be useful.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i="1" dirty="0"/>
                  <a:t>interaction energy</a:t>
                </a:r>
                <a:r>
                  <a:rPr lang="en-US" dirty="0"/>
                  <a:t> for a dimer (two molecules) is defined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dirty="0"/>
                  <a:t> is the energy of both molecules computed together,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are the energies of each of the molecules computed by themselves.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DB10D1E-F38E-2B1C-9999-62C83FD82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398" y="2003265"/>
                <a:ext cx="11398981" cy="3715124"/>
              </a:xfrm>
              <a:blipFill>
                <a:blip r:embed="rId2"/>
                <a:stretch>
                  <a:fillRect l="-588" t="-1149" r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F9F3A-DED4-3CDC-165C-161F27635C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CB7BA-7193-FC80-7CDF-674BF1874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B48282-C8E2-9AAA-455D-55EF234B0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26" y="3167961"/>
            <a:ext cx="2590781" cy="120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733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1"/>
</p:tagLst>
</file>

<file path=ppt/theme/theme1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FreightSans Pro Bold"/>
        <a:ea typeface=""/>
        <a:cs typeface=""/>
      </a:majorFont>
      <a:minorFont>
        <a:latin typeface="FreightSans Pr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117356AC-C902-44D7-AAFB-E6ED633CC90C}" vid="{1010A4EE-E55A-4731-932F-256AEEF327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msse-bootcamp_template</Template>
  <TotalTime>3448</TotalTime>
  <Words>531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Cambria Math</vt:lpstr>
      <vt:lpstr>Courier New</vt:lpstr>
      <vt:lpstr>FreightSans Pro Bold</vt:lpstr>
      <vt:lpstr>FreightSans Pro Medium</vt:lpstr>
      <vt:lpstr>Lucida Grande Regular</vt:lpstr>
      <vt:lpstr>MS Shell Dlg 2</vt:lpstr>
      <vt:lpstr>Custom Design</vt:lpstr>
      <vt:lpstr>Electronic Structure Theory</vt:lpstr>
      <vt:lpstr>What is Electronic Structure Theory</vt:lpstr>
      <vt:lpstr>Quantum vs. Classical Calculations</vt:lpstr>
      <vt:lpstr>Singlepoint Calculations</vt:lpstr>
      <vt:lpstr>Geometry Optimization</vt:lpstr>
      <vt:lpstr>QM Model Selection</vt:lpstr>
      <vt:lpstr>Why not use QM for everything?</vt:lpstr>
      <vt:lpstr>Method Hierarchy</vt:lpstr>
      <vt:lpstr>Basis Sets</vt:lpstr>
      <vt:lpstr>Molecules</vt:lpstr>
      <vt:lpstr>Interaction Energy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Structure Theory</dc:title>
  <dc:creator>Pritchard, Benjamin</dc:creator>
  <cp:lastModifiedBy>Pritchard, Benjamin</cp:lastModifiedBy>
  <cp:revision>4</cp:revision>
  <dcterms:created xsi:type="dcterms:W3CDTF">2023-10-08T17:35:39Z</dcterms:created>
  <dcterms:modified xsi:type="dcterms:W3CDTF">2025-10-14T19:51:03Z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E3993A2F-7A32-4D5D-8109-C84502C343A8</vt:lpwstr>
  </property>
  <property fmtid="{D5CDD505-2E9C-101B-9397-08002B2CF9AE}" pid="3" name="ArticulatePath">
    <vt:lpwstr>powerpointDeck_template</vt:lpwstr>
  </property>
</Properties>
</file>